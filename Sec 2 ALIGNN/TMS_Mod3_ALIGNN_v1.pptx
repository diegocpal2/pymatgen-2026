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642" r:id="rId2"/>
    <p:sldId id="1363" r:id="rId3"/>
    <p:sldId id="13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F2F21-D284-E243-8EC3-F886231622F3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811CB-314D-6C40-ABB2-1057C2F80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06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0B0E-661F-CAD2-56E7-F5490BDC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CC7B1-F854-870D-2637-E88711D80E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9EDBA-A6C0-A28F-EED9-5028C0D52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6D0CE-D046-45E5-3382-E8A025B20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7453B-EDB1-834E-B795-870CABB029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95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F4FD-9D23-5F51-5CD9-C6F31BFBE9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3233A-3D8C-FD54-6D86-B9ADD9219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D48BC-E14A-E707-455E-FDADDECD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21C94-139F-F642-90C8-E53DF2C2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ECDBF-4EF1-98A9-A4A0-4C301D07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1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765E-F027-042A-35DA-3D32DD327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7BE0-9215-0086-F15A-82665501B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21409-6E6D-6D16-47FF-38BDF598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9C81D-BF8F-7808-9C26-4DA1C7132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5170C-EDD0-F0C6-9615-DFE2F4367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934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561F-9CE1-DAE4-E23A-94724F52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0DB2C-548E-7130-3B28-B184ABD94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23EA1-0A48-60D9-86F1-990A59B9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1E551-3553-5059-21A7-B1BAD61B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25292-A5D2-2D81-B891-CFDAAC97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72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895FB-80C2-86DE-1DCA-606E1C4EC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AA4CB-E18F-FD89-2193-D416B670F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B2EE5-7FF9-F186-2C32-8BCB11FD1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4823C-860F-7C3B-F264-E2A8D812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EC3C3-2107-64EE-2A11-99A28E49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1769A-8CB3-A82F-1BD6-F0DBE001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41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3910-2C58-ABED-8830-5CD605D4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685BAB-2FA9-96DE-5659-6211CD109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F95F8-FCA0-9B30-06E1-853B0D63B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FFAD4F-595B-6F82-5A3C-3BDA0C4A4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8E555F-0BBC-8465-4303-65B409114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4E68EE-B093-B5E9-4741-88C81CDC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3390C7-05CA-17AC-2443-E3BAEA53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39842-7B42-126E-608D-2CDFD093D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1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FD371-63B6-7794-99AB-20CE15C5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A13518-16BE-C977-D513-FA34B5808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546E3-A5DD-F8A4-77CF-FEFECFAC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E0DAD-D3E7-C52F-D786-B2C2DA56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28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D7502-A190-F7D7-CBDA-2B8168558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6A2299-CEA6-00AB-040C-29F1FC07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9D39B5-DC46-A7D5-C018-763A4A83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3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EF7F-00AF-DD38-6E6A-D6C1EB2F4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34CE5-1F5E-EEDA-96CD-DD5A80546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39DE2-34EA-496B-212A-1428CF621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1155D-90F9-A5DD-2564-40476FACA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DE7A6-E292-3D12-3F7A-2D73E87C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907CB-E228-15D7-BB24-A8A1934E2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90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E56B1-75F2-61BD-D867-8A063E3C1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C99D9-AE33-199E-88D7-A6F3D2A82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B62CF-F8B8-9133-722A-EEE57C2CD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76CBD-53FD-0C22-A54C-67E6B614A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BEA1F-7CC7-FBEE-76BB-E86C20EB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87577-2AA9-E1A5-9E25-1E930DD6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6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AE9BE-0F06-76C4-8027-C915A018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45BE3-F621-3E58-0DB6-FB8E02D12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E43D3-DA23-6740-2722-3BBBA4D0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B3965-81FC-CA6E-38DB-99861702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AE341-8776-7A88-802A-47871A53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99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E701F1-7B52-CB89-C5C1-5B308FA84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64638-671E-6D2C-0DA8-71372A8E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2AEB3-8C92-4D9A-279E-FC261B2E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0551A-D62D-56BA-5081-00C1CA103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C1A4-0B98-E6C1-6781-D186C2E29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7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260F35-C7A3-C789-CB05-DB1E19C23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F56A9-BCBA-A13E-34A8-76852EF6A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F178C-7EFE-ACB2-4CFB-FDF499F110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8A4D7-0D0E-FD46-B375-3BEE808613F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93C08-4B77-B67F-A4FF-F5F3A5A76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9BC9E-7BA9-89BE-18D8-E0BF016D0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149AF-35E3-ED47-BC6D-C6F4BC0069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2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524-021-00650-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ogo3">
            <a:extLst>
              <a:ext uri="{FF2B5EF4-FFF2-40B4-BE49-F238E27FC236}">
                <a16:creationId xmlns:a16="http://schemas.microsoft.com/office/drawing/2014/main" id="{D2648E9F-0318-BAD9-9900-A2A914AA6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1353" y="5257800"/>
            <a:ext cx="2109471" cy="1466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003E40-FE93-4F90-52C2-8C082AC03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02829"/>
            <a:ext cx="9144000" cy="1880564"/>
          </a:xfrm>
        </p:spPr>
        <p:txBody>
          <a:bodyPr>
            <a:normAutofit/>
          </a:bodyPr>
          <a:lstStyle/>
          <a:p>
            <a:r>
              <a:rPr lang="en-US" sz="4500" b="1" dirty="0">
                <a:cs typeface="Calibri Light" panose="020F0302020204030204" pitchFamily="34" charset="0"/>
              </a:rPr>
              <a:t>Introduction to Materials Property Prediction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920A92-A9A1-0A49-98FB-C28531211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7488" y="3602037"/>
            <a:ext cx="7557024" cy="312261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Dane Morgan, Ryan Jacobs (University of Wisconsin - Madison, Wisconsin, USA)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Ben Afflerbach (Fort Lewis College, Colorado, USA)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Part of TMS Online Course: Artificial Intelligence and Machine Learning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Part of Module 3: Approaches to Materials Property Prediction with Machine Learning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</a:pPr>
            <a:r>
              <a:rPr lang="en-US" dirty="0"/>
              <a:t>October 27-29, 2025</a:t>
            </a:r>
          </a:p>
        </p:txBody>
      </p:sp>
      <p:pic>
        <p:nvPicPr>
          <p:cNvPr id="5" name="Picture 6" descr="UW_small_logo">
            <a:extLst>
              <a:ext uri="{FF2B5EF4-FFF2-40B4-BE49-F238E27FC236}">
                <a16:creationId xmlns:a16="http://schemas.microsoft.com/office/drawing/2014/main" id="{66FC1438-A9FC-4E2B-BFC6-4EAB47047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5" y="5118838"/>
            <a:ext cx="1534583" cy="1534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4017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EC66-6915-3357-E2F4-F87ACE13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7829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Using Atomic Structure as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6821F-A283-012A-1346-3E4F8DA66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436"/>
            <a:ext cx="10515600" cy="2064904"/>
          </a:xfrm>
        </p:spPr>
        <p:txBody>
          <a:bodyPr>
            <a:normAutofit/>
          </a:bodyPr>
          <a:lstStyle/>
          <a:p>
            <a:r>
              <a:rPr lang="en-US" sz="1800" dirty="0"/>
              <a:t>Mole fractions or Elemental Property features are powerful but have no structural information (e.g., will predict band gap of all polymorphs as the same).</a:t>
            </a:r>
          </a:p>
          <a:p>
            <a:r>
              <a:rPr lang="en-US" sz="1800" dirty="0"/>
              <a:t>If you have atomic structures (very common with simulated data) it is generally better to </a:t>
            </a:r>
            <a:r>
              <a:rPr lang="en-US" sz="1800" dirty="0" err="1"/>
              <a:t>featurize</a:t>
            </a:r>
            <a:r>
              <a:rPr lang="en-US" sz="1800" dirty="0"/>
              <a:t> with all that information. </a:t>
            </a:r>
          </a:p>
          <a:p>
            <a:r>
              <a:rPr lang="en-US" sz="1800" dirty="0"/>
              <a:t>A very powerful approach to this is a graph neural network.</a:t>
            </a:r>
          </a:p>
        </p:txBody>
      </p:sp>
      <p:pic>
        <p:nvPicPr>
          <p:cNvPr id="3076" name="Picture 4" descr="Fig. 1">
            <a:extLst>
              <a:ext uri="{FF2B5EF4-FFF2-40B4-BE49-F238E27FC236}">
                <a16:creationId xmlns:a16="http://schemas.microsoft.com/office/drawing/2014/main" id="{C0D48A20-73FA-E105-D390-8F531FE9C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811" y="3343356"/>
            <a:ext cx="8327300" cy="318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83EDC5-BA70-227F-8A09-D86382E10F24}"/>
              </a:ext>
            </a:extLst>
          </p:cNvPr>
          <p:cNvSpPr txBox="1"/>
          <p:nvPr/>
        </p:nvSpPr>
        <p:spPr>
          <a:xfrm>
            <a:off x="213675" y="3343355"/>
            <a:ext cx="30761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/>
              <a:t>Example of the Atomistic Line Graph Neural Network (ALIGNN)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/>
              <a:t>Builds features from atomic structure and elemental properties.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dirty="0"/>
              <a:t>Has learnable updates to features followed by a simple regression on final pooled vector.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66222-EDBD-73AD-BCA8-9867CD564197}"/>
              </a:ext>
            </a:extLst>
          </p:cNvPr>
          <p:cNvSpPr txBox="1"/>
          <p:nvPr/>
        </p:nvSpPr>
        <p:spPr>
          <a:xfrm>
            <a:off x="8802932" y="6529706"/>
            <a:ext cx="3389069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33" dirty="0"/>
              <a:t>Choudhury and DeCost, </a:t>
            </a:r>
            <a:r>
              <a:rPr lang="en-US" sz="1333" dirty="0" err="1">
                <a:hlinkClick r:id="rId3"/>
              </a:rPr>
              <a:t>npj</a:t>
            </a:r>
            <a:r>
              <a:rPr lang="en-US" sz="1333" dirty="0">
                <a:hlinkClick r:id="rId3"/>
              </a:rPr>
              <a:t> Comp. Mat. ‘21</a:t>
            </a:r>
            <a:endParaRPr lang="en-US" sz="1333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7E09CB-3ADD-8646-1B98-E50F1FC76F27}"/>
              </a:ext>
            </a:extLst>
          </p:cNvPr>
          <p:cNvSpPr/>
          <p:nvPr/>
        </p:nvSpPr>
        <p:spPr>
          <a:xfrm>
            <a:off x="202582" y="680792"/>
            <a:ext cx="11542817" cy="643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0339A-F512-B296-F68C-04C7FF21C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B311-6072-A391-9662-8079B43B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193" y="-25609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ALIGNN Tutorial Notebook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0148C-C610-B37E-D106-ACB72609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2C6E0-C52C-7144-9397-3F292573A200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39CA11-F26F-BB78-1C72-67F55AB6C252}"/>
              </a:ext>
            </a:extLst>
          </p:cNvPr>
          <p:cNvSpPr txBox="1"/>
          <p:nvPr/>
        </p:nvSpPr>
        <p:spPr>
          <a:xfrm>
            <a:off x="317662" y="1160045"/>
            <a:ext cx="516235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Our ALIGNN tutorial will equip you with the tools needed to train a structure-based property predictor on your own data and for your own property of interest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will now move on to our lab activity, where we will: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Train a Voltage prediction graph neural network using UMLIP-calculated average voltages of prospective Na-cathode materials including only their structures as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 our trained property predictor to perform a follow-up investigation of a candidate material, modifying various aspects of its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02C4F4-9E0B-B36B-952F-2AAC13D4A472}"/>
              </a:ext>
            </a:extLst>
          </p:cNvPr>
          <p:cNvSpPr/>
          <p:nvPr/>
        </p:nvSpPr>
        <p:spPr>
          <a:xfrm>
            <a:off x="202582" y="680792"/>
            <a:ext cx="11542817" cy="6431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5EEE9-1CCC-C361-30BE-4AD96A477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843" y="1727384"/>
            <a:ext cx="6288157" cy="340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64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21A8A7101E1845BD0EEDCD8EA4467A" ma:contentTypeVersion="16" ma:contentTypeDescription="Create a new document." ma:contentTypeScope="" ma:versionID="d05a82a049cf4f16323b2a74efd85649">
  <xsd:schema xmlns:xsd="http://www.w3.org/2001/XMLSchema" xmlns:xs="http://www.w3.org/2001/XMLSchema" xmlns:p="http://schemas.microsoft.com/office/2006/metadata/properties" xmlns:ns2="bd9ed0e6-9e9b-4664-abc9-36b8166d921c" xmlns:ns3="008e35b3-40cd-4744-b9c6-85e88c97e1ba" targetNamespace="http://schemas.microsoft.com/office/2006/metadata/properties" ma:root="true" ma:fieldsID="a5fd02741def16cb36214350f94e043f" ns2:_="" ns3:_="">
    <xsd:import namespace="bd9ed0e6-9e9b-4664-abc9-36b8166d921c"/>
    <xsd:import namespace="008e35b3-40cd-4744-b9c6-85e88c97e1b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9ed0e6-9e9b-4664-abc9-36b8166d92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c414726-6ae4-4cb5-99f3-fdc6235cc8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8e35b3-40cd-4744-b9c6-85e88c97e1b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ba495-ed77-4ffb-a371-aaf2fe980ff5}" ma:internalName="TaxCatchAll" ma:showField="CatchAllData" ma:web="008e35b3-40cd-4744-b9c6-85e88c97e1b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08e35b3-40cd-4744-b9c6-85e88c97e1ba" xsi:nil="true"/>
    <lcf76f155ced4ddcb4097134ff3c332f xmlns="bd9ed0e6-9e9b-4664-abc9-36b8166d921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4695928-923B-45F4-9D8C-2C023313D21B}"/>
</file>

<file path=customXml/itemProps2.xml><?xml version="1.0" encoding="utf-8"?>
<ds:datastoreItem xmlns:ds="http://schemas.openxmlformats.org/officeDocument/2006/customXml" ds:itemID="{0EC6E900-40EB-4F63-80CF-A47E81F9C6AF}"/>
</file>

<file path=customXml/itemProps3.xml><?xml version="1.0" encoding="utf-8"?>
<ds:datastoreItem xmlns:ds="http://schemas.openxmlformats.org/officeDocument/2006/customXml" ds:itemID="{BD549DC5-1184-4BD9-A2AA-037F40C963B4}"/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264</Words>
  <Application>Microsoft Office PowerPoint</Application>
  <PresentationFormat>Widescreen</PresentationFormat>
  <Paragraphs>22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 Light</vt:lpstr>
      <vt:lpstr>Office Theme</vt:lpstr>
      <vt:lpstr>Introduction to Materials Property Prediction</vt:lpstr>
      <vt:lpstr>Using Atomic Structure as Features</vt:lpstr>
      <vt:lpstr>ALIGNN Tutorial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Jacobs</dc:creator>
  <cp:lastModifiedBy>Afflerbach, Benjamin</cp:lastModifiedBy>
  <cp:revision>8</cp:revision>
  <dcterms:created xsi:type="dcterms:W3CDTF">2025-10-08T16:25:35Z</dcterms:created>
  <dcterms:modified xsi:type="dcterms:W3CDTF">2025-10-09T21:46:31Z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0x010100FF21A8A7101E1845BD0EEDCD8EA4467A</vt:lpwstr>
  </property>
  <property fmtid="{D5CDD505-2E9C-101B-9397-08002B2CF9AE}" pid="3" name="MediaServiceImageTags">
    <vt:lpwstr/>
  </property>
</Properties>
</file>