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642" r:id="rId2"/>
    <p:sldId id="1365" r:id="rId3"/>
    <p:sldId id="304" r:id="rId4"/>
    <p:sldId id="136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F2F21-D284-E243-8EC3-F886231622F3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811CB-314D-6C40-ABB2-1057C2F80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06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Note, “SUN” score is measure of stable, unique and new materials compared to those in known databases. S = 0.1 eV/atom, U= no matching structure in generation, N = no matching structure in database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7453B-EDB1-834E-B795-870CABB0299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578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59712-EEDE-8173-BD7A-F566F349F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6852C8-E2A3-C0B0-A643-1B630F5F42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B99955-D2C0-F765-6777-1BF85296F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Note, “SUN” score is measure of stable, unique and new materials compared to those in known databases. S = 0.1 eV/atom, U= no matching structure in generation, N = no matching structure in database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F23D9-61B8-ABA0-A551-1B46A2B71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7453B-EDB1-834E-B795-870CABB0299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737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2F4FD-9D23-5F51-5CD9-C6F31BFBE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3233A-3D8C-FD54-6D86-B9ADD9219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D48BC-E14A-E707-455E-FDADDECD9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21C94-139F-F642-90C8-E53DF2C21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ECDBF-4EF1-98A9-A4A0-4C301D07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17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3765E-F027-042A-35DA-3D32DD327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87BE0-9215-0086-F15A-82665501B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21409-6E6D-6D16-47FF-38BDF598D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9C81D-BF8F-7808-9C26-4DA1C7132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5170C-EDD0-F0C6-9615-DFE2F4367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934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F561F-9CE1-DAE4-E23A-94724F528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0DB2C-548E-7130-3B28-B184ABD94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23EA1-0A48-60D9-86F1-990A59B9C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1E551-3553-5059-21A7-B1BAD61BA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25292-A5D2-2D81-B891-CFDAAC97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672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895FB-80C2-86DE-1DCA-606E1C4EC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AA4CB-E18F-FD89-2193-D416B670F4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B2EE5-7FF9-F186-2C32-8BCB11FD1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4823C-860F-7C3B-F264-E2A8D812E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EC3C3-2107-64EE-2A11-99A28E490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1769A-8CB3-A82F-1BD6-F0DBE001E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041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63910-2C58-ABED-8830-5CD605D45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85BAB-2FA9-96DE-5659-6211CD109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0F95F8-FCA0-9B30-06E1-853B0D63B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FAD4F-595B-6F82-5A3C-3BDA0C4A4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8E555F-0BBC-8465-4303-65B4091148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4E68EE-B093-B5E9-4741-88C81CDCC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3390C7-05CA-17AC-2443-E3BAEA53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139842-7B42-126E-608D-2CDFD093D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614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FD371-63B6-7794-99AB-20CE15C5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A13518-16BE-C977-D513-FA34B5808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6546E3-A5DD-F8A4-77CF-FEFECFACE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E0DAD-D3E7-C52F-D786-B2C2DA56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28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0D7502-A190-F7D7-CBDA-2B8168558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6A2299-CEA6-00AB-040C-29F1FC07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D39B5-DC46-A7D5-C018-763A4A83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30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EF7F-00AF-DD38-6E6A-D6C1EB2F4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34CE5-1F5E-EEDA-96CD-DD5A80546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39DE2-34EA-496B-212A-1428CF621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1155D-90F9-A5DD-2564-40476FACA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DE7A6-E292-3D12-3F7A-2D73E87CD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907CB-E228-15D7-BB24-A8A1934E2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790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E56B1-75F2-61BD-D867-8A063E3C1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6C99D9-AE33-199E-88D7-A6F3D2A82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B62CF-F8B8-9133-722A-EEE57C2CD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76CBD-53FD-0C22-A54C-67E6B614A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BEA1F-7CC7-FBEE-76BB-E86C20EB1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87577-2AA9-E1A5-9E25-1E930DD6E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60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AE9BE-0F06-76C4-8027-C915A018D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45BE3-F621-3E58-0DB6-FB8E02D12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E43D3-DA23-6740-2722-3BBBA4D0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B3965-81FC-CA6E-38DB-99861702E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AE341-8776-7A88-802A-47871A53A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9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E701F1-7B52-CB89-C5C1-5B308FA84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64638-671E-6D2C-0DA8-71372A8EE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2AEB3-8C92-4D9A-279E-FC261B2E0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0551A-D62D-56BA-5081-00C1CA103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C1A4-0B98-E6C1-6781-D186C2E29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7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260F35-C7A3-C789-CB05-DB1E19C23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F56A9-BCBA-A13E-34A8-76852EF6A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F178C-7EFE-ACB2-4CFB-FDF499F110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68A4D7-0D0E-FD46-B375-3BEE808613FD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93C08-4B77-B67F-A4FF-F5F3A5A763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9BC9E-7BA9-89BE-18D8-E0BF016D0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27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86-025-08628-5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38/s41586-025-08628-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ogo3">
            <a:extLst>
              <a:ext uri="{FF2B5EF4-FFF2-40B4-BE49-F238E27FC236}">
                <a16:creationId xmlns:a16="http://schemas.microsoft.com/office/drawing/2014/main" id="{D2648E9F-0318-BAD9-9900-A2A914AA6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1353" y="5257800"/>
            <a:ext cx="2109471" cy="146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003E40-FE93-4F90-52C2-8C082AC03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02829"/>
            <a:ext cx="9144000" cy="1880564"/>
          </a:xfrm>
        </p:spPr>
        <p:txBody>
          <a:bodyPr>
            <a:normAutofit/>
          </a:bodyPr>
          <a:lstStyle/>
          <a:p>
            <a:r>
              <a:rPr lang="en-US" sz="4500" b="1" dirty="0">
                <a:cs typeface="Calibri Light" panose="020F0302020204030204" pitchFamily="34" charset="0"/>
              </a:rPr>
              <a:t>Introduction to Materials Property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920A92-A9A1-0A49-98FB-C28531211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7488" y="3602037"/>
            <a:ext cx="7557024" cy="312261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en-US" dirty="0"/>
              <a:t>Dane Morgan, Ryan Jacobs (University of Wisconsin - Madison, Wisconsin, USA)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en-US" dirty="0"/>
              <a:t>Ben Afflerbach (Fort Lewis College, Colorado, USA)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en-US" dirty="0"/>
              <a:t>Part of TMS Online Course: Artificial Intelligence and Machine Learning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en-US" dirty="0"/>
              <a:t>Part of Module 3: Approaches to Materials Property Prediction with Machine Learning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en-US" dirty="0"/>
              <a:t>October 27-29, 2025</a:t>
            </a:r>
          </a:p>
        </p:txBody>
      </p:sp>
      <p:pic>
        <p:nvPicPr>
          <p:cNvPr id="5" name="Picture 6" descr="UW_small_logo">
            <a:extLst>
              <a:ext uri="{FF2B5EF4-FFF2-40B4-BE49-F238E27FC236}">
                <a16:creationId xmlns:a16="http://schemas.microsoft.com/office/drawing/2014/main" id="{66FC1438-A9FC-4E2B-BFC6-4EAB47047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5" y="5118838"/>
            <a:ext cx="1534583" cy="1534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401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4B729-7D5E-0FBC-2852-40EBFB612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E2B06-D8FF-D036-EB34-E9A1098F9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15" y="-328587"/>
            <a:ext cx="10515600" cy="1325563"/>
          </a:xfrm>
        </p:spPr>
        <p:txBody>
          <a:bodyPr/>
          <a:lstStyle/>
          <a:p>
            <a:r>
              <a:rPr lang="en-US" dirty="0"/>
              <a:t>Moving Beyond Regression to Generative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75F7D-3EF4-2842-1052-84B0BC26E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651" y="996976"/>
            <a:ext cx="11140128" cy="2064904"/>
          </a:xfrm>
        </p:spPr>
        <p:txBody>
          <a:bodyPr>
            <a:normAutofit/>
          </a:bodyPr>
          <a:lstStyle/>
          <a:p>
            <a:r>
              <a:rPr lang="en-US" sz="2400" dirty="0"/>
              <a:t>Generative machine learning on materials structures does 2 things</a:t>
            </a:r>
          </a:p>
          <a:p>
            <a:pPr lvl="1"/>
            <a:r>
              <a:rPr lang="en-US" sz="2000" dirty="0"/>
              <a:t>Generates a candidate materials structure</a:t>
            </a:r>
          </a:p>
          <a:p>
            <a:pPr lvl="1"/>
            <a:r>
              <a:rPr lang="en-US" sz="2000" dirty="0"/>
              <a:t>Predicts properties of that structure</a:t>
            </a:r>
          </a:p>
          <a:p>
            <a:r>
              <a:rPr lang="en-US" sz="2400" dirty="0"/>
              <a:t>Generative step adds a whole additional machine learning challenge.</a:t>
            </a:r>
          </a:p>
          <a:p>
            <a:r>
              <a:rPr lang="en-US" sz="2400" dirty="0"/>
              <a:t>Powerful for finding new materials with new properties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EBE742-1610-2B42-0F1B-258C5E3D7292}"/>
              </a:ext>
            </a:extLst>
          </p:cNvPr>
          <p:cNvSpPr txBox="1"/>
          <p:nvPr/>
        </p:nvSpPr>
        <p:spPr>
          <a:xfrm>
            <a:off x="213674" y="3133904"/>
            <a:ext cx="320464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dirty="0"/>
              <a:t>Example of the </a:t>
            </a:r>
            <a:r>
              <a:rPr lang="en-US" dirty="0" err="1"/>
              <a:t>MatterGen</a:t>
            </a:r>
            <a:r>
              <a:rPr lang="en-US" dirty="0"/>
              <a:t> approach.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dirty="0"/>
              <a:t>Generates likely stable  structures that also have target properties.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dirty="0"/>
              <a:t>Trained on large existing structural databases for structure generation and then can be fine-tuned for specific property. We will tune for Na-ion battery cathode voltages (Sec 3).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26" name="Picture 2" descr="Fig. 1">
            <a:extLst>
              <a:ext uri="{FF2B5EF4-FFF2-40B4-BE49-F238E27FC236}">
                <a16:creationId xmlns:a16="http://schemas.microsoft.com/office/drawing/2014/main" id="{CCB67C17-9593-44A4-3A48-58D1D2D9E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317" y="3277953"/>
            <a:ext cx="8352092" cy="3287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811D7C-0578-0EDA-F05B-635F81214DB9}"/>
              </a:ext>
            </a:extLst>
          </p:cNvPr>
          <p:cNvSpPr txBox="1"/>
          <p:nvPr/>
        </p:nvSpPr>
        <p:spPr>
          <a:xfrm>
            <a:off x="6801031" y="6573774"/>
            <a:ext cx="5335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Zeni, C., et al. Nature 639 (2025). </a:t>
            </a:r>
            <a:r>
              <a:rPr lang="en-US" sz="1200" dirty="0">
                <a:hlinkClick r:id="rId3"/>
              </a:rPr>
              <a:t>https://doi.org/10.1038/s41586-025-08628-5</a:t>
            </a:r>
            <a:r>
              <a:rPr lang="en-US" sz="1200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2C1BED-14EE-6748-349F-CA794EA0D561}"/>
              </a:ext>
            </a:extLst>
          </p:cNvPr>
          <p:cNvSpPr/>
          <p:nvPr/>
        </p:nvSpPr>
        <p:spPr>
          <a:xfrm>
            <a:off x="202582" y="680792"/>
            <a:ext cx="11542817" cy="643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87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2308A-5B2D-B27A-2293-3AF3835D7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193" y="-256097"/>
            <a:ext cx="10515600" cy="1325563"/>
          </a:xfrm>
        </p:spPr>
        <p:txBody>
          <a:bodyPr/>
          <a:lstStyle/>
          <a:p>
            <a:r>
              <a:rPr lang="en-US" dirty="0"/>
              <a:t>Generating new materials with </a:t>
            </a:r>
            <a:r>
              <a:rPr lang="en-US" dirty="0" err="1"/>
              <a:t>Mattergen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CAAAA-9B25-8876-6B22-54161837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2C6E0-C52C-7144-9397-3F292573A200}" type="slidenum">
              <a:rPr lang="en-US" smtClean="0"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B67858-D847-0A12-C020-8D7960FC9D39}"/>
              </a:ext>
            </a:extLst>
          </p:cNvPr>
          <p:cNvSpPr txBox="1"/>
          <p:nvPr/>
        </p:nvSpPr>
        <p:spPr>
          <a:xfrm>
            <a:off x="0" y="1224357"/>
            <a:ext cx="3581401" cy="5432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Mattergen</a:t>
            </a:r>
            <a:r>
              <a:rPr lang="en-US" dirty="0"/>
              <a:t> can be conditioned on target property values. E.g., new magnets with earth-abundant elements (low HHI score) and high magnetic density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Conditioning </a:t>
            </a:r>
            <a:r>
              <a:rPr lang="en-US" dirty="0" err="1"/>
              <a:t>Mattergen</a:t>
            </a:r>
            <a:r>
              <a:rPr lang="en-US" dirty="0"/>
              <a:t> on both HHI score and magnetic density at the same time gave best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this work, we will condition </a:t>
            </a:r>
            <a:r>
              <a:rPr lang="en-US" dirty="0" err="1"/>
              <a:t>Mattergen</a:t>
            </a:r>
            <a:r>
              <a:rPr lang="en-US" dirty="0"/>
              <a:t> on average Na voltage, chemical system, and energy above hull to target discovery of high voltage, stable materials in particular chemical systems, </a:t>
            </a:r>
            <a:r>
              <a:rPr lang="en-US" dirty="0" err="1"/>
              <a:t>e.g</a:t>
            </a:r>
            <a:r>
              <a:rPr lang="en-US" dirty="0"/>
              <a:t>,. Na-Mn-P-C-O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A62BEE-B8C3-687D-D647-988015B9C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110" y="881157"/>
            <a:ext cx="7348697" cy="555656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A23BC3B-6F21-76B1-3606-1A21BA3511F0}"/>
              </a:ext>
            </a:extLst>
          </p:cNvPr>
          <p:cNvSpPr/>
          <p:nvPr/>
        </p:nvSpPr>
        <p:spPr>
          <a:xfrm>
            <a:off x="202582" y="680792"/>
            <a:ext cx="11542817" cy="643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E7928A-185D-3284-DC2C-5E37CDA93C75}"/>
              </a:ext>
            </a:extLst>
          </p:cNvPr>
          <p:cNvSpPr txBox="1"/>
          <p:nvPr/>
        </p:nvSpPr>
        <p:spPr>
          <a:xfrm>
            <a:off x="6801031" y="6573774"/>
            <a:ext cx="5335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Zeni, C., et al. Nature 639 (2025). </a:t>
            </a:r>
            <a:r>
              <a:rPr lang="en-US" sz="1200" dirty="0">
                <a:hlinkClick r:id="rId4"/>
              </a:rPr>
              <a:t>https://doi.org/10.1038/s41586-025-08628-5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4226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0039D-CC7D-3E8B-E9F1-9B352961E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99E62-B110-9CE1-F7F4-5E7942BD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193" y="-256097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Mattergen</a:t>
            </a:r>
            <a:r>
              <a:rPr lang="en-US" dirty="0"/>
              <a:t> Tutorial Notebook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06034-B9D5-127F-D660-024EB873F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2C6E0-C52C-7144-9397-3F292573A200}" type="slidenum">
              <a:rPr lang="en-US" smtClean="0"/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235387-826D-6155-82FE-C62983E5524A}"/>
              </a:ext>
            </a:extLst>
          </p:cNvPr>
          <p:cNvSpPr txBox="1"/>
          <p:nvPr/>
        </p:nvSpPr>
        <p:spPr>
          <a:xfrm>
            <a:off x="317662" y="1160045"/>
            <a:ext cx="5162358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Our </a:t>
            </a:r>
            <a:r>
              <a:rPr lang="en-US" sz="2000" dirty="0" err="1"/>
              <a:t>Mattergen</a:t>
            </a:r>
            <a:r>
              <a:rPr lang="en-US" sz="2000" dirty="0"/>
              <a:t> tutorial will equip you with the tools needed to finetune </a:t>
            </a:r>
            <a:r>
              <a:rPr lang="en-US" sz="2000" dirty="0" err="1"/>
              <a:t>Mattergen</a:t>
            </a:r>
            <a:r>
              <a:rPr lang="en-US" sz="2000" dirty="0"/>
              <a:t> on your own data and for your own property of interest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 will now move on to our lab activity, where we will do the following: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Fine-tune </a:t>
            </a:r>
            <a:r>
              <a:rPr lang="en-US" sz="2000" dirty="0" err="1"/>
              <a:t>Mattergen</a:t>
            </a:r>
            <a:r>
              <a:rPr lang="en-US" sz="2000" dirty="0"/>
              <a:t> using a database of UMLIP-calculated average voltages of prospective Na-cathode materials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Use our fine-tuned model to generate new potential materials in a prescribed composition space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Use a UMLIP (</a:t>
            </a:r>
            <a:r>
              <a:rPr lang="en-US" sz="2000" dirty="0" err="1"/>
              <a:t>CHGNet</a:t>
            </a:r>
            <a:r>
              <a:rPr lang="en-US" sz="2000" dirty="0"/>
              <a:t>) to calculate the energy of the discharged and charged state of a generated material and obtain its average voltage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9F0989-0D6A-F39A-CF25-5F75495F158F}"/>
              </a:ext>
            </a:extLst>
          </p:cNvPr>
          <p:cNvSpPr/>
          <p:nvPr/>
        </p:nvSpPr>
        <p:spPr>
          <a:xfrm>
            <a:off x="202582" y="680792"/>
            <a:ext cx="11542817" cy="643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ED90A502-5BAE-FBC0-1042-D8DF36403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655" y="883254"/>
            <a:ext cx="5106744" cy="3057506"/>
          </a:xfrm>
          <a:prstGeom prst="rect">
            <a:avLst/>
          </a:prstGeom>
        </p:spPr>
      </p:pic>
      <p:pic>
        <p:nvPicPr>
          <p:cNvPr id="9" name="Picture 2" descr="MatterGen: a generative model for inorganic materials design ...">
            <a:extLst>
              <a:ext uri="{FF2B5EF4-FFF2-40B4-BE49-F238E27FC236}">
                <a16:creationId xmlns:a16="http://schemas.microsoft.com/office/drawing/2014/main" id="{9037DCC3-1F14-89DF-4A59-936C06DBE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0919" y="3865127"/>
            <a:ext cx="2415845" cy="890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A diagram of a molecule&#10;&#10;AI-generated content may be incorrect.">
            <a:extLst>
              <a:ext uri="{FF2B5EF4-FFF2-40B4-BE49-F238E27FC236}">
                <a16:creationId xmlns:a16="http://schemas.microsoft.com/office/drawing/2014/main" id="{1DF8270B-0588-C87F-709C-37A83B5BF0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0993" y="4583219"/>
            <a:ext cx="2563337" cy="2153202"/>
          </a:xfrm>
          <a:prstGeom prst="rect">
            <a:avLst/>
          </a:prstGeom>
        </p:spPr>
      </p:pic>
      <p:pic>
        <p:nvPicPr>
          <p:cNvPr id="14" name="Picture 13" descr="A diagram of a molecule&#10;&#10;AI-generated content may be incorrect.">
            <a:extLst>
              <a:ext uri="{FF2B5EF4-FFF2-40B4-BE49-F238E27FC236}">
                <a16:creationId xmlns:a16="http://schemas.microsoft.com/office/drawing/2014/main" id="{D520FFE1-6569-73C2-CAA1-D87801D2DF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4330" y="4695283"/>
            <a:ext cx="2502588" cy="192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712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21A8A7101E1845BD0EEDCD8EA4467A" ma:contentTypeVersion="16" ma:contentTypeDescription="Create a new document." ma:contentTypeScope="" ma:versionID="d05a82a049cf4f16323b2a74efd85649">
  <xsd:schema xmlns:xsd="http://www.w3.org/2001/XMLSchema" xmlns:xs="http://www.w3.org/2001/XMLSchema" xmlns:p="http://schemas.microsoft.com/office/2006/metadata/properties" xmlns:ns2="bd9ed0e6-9e9b-4664-abc9-36b8166d921c" xmlns:ns3="008e35b3-40cd-4744-b9c6-85e88c97e1ba" targetNamespace="http://schemas.microsoft.com/office/2006/metadata/properties" ma:root="true" ma:fieldsID="a5fd02741def16cb36214350f94e043f" ns2:_="" ns3:_="">
    <xsd:import namespace="bd9ed0e6-9e9b-4664-abc9-36b8166d921c"/>
    <xsd:import namespace="008e35b3-40cd-4744-b9c6-85e88c97e1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9ed0e6-9e9b-4664-abc9-36b8166d92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c414726-6ae4-4cb5-99f3-fdc6235cc8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8e35b3-40cd-4744-b9c6-85e88c97e1b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ba495-ed77-4ffb-a371-aaf2fe980ff5}" ma:internalName="TaxCatchAll" ma:showField="CatchAllData" ma:web="008e35b3-40cd-4744-b9c6-85e88c97e1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08e35b3-40cd-4744-b9c6-85e88c97e1ba" xsi:nil="true"/>
    <lcf76f155ced4ddcb4097134ff3c332f xmlns="bd9ed0e6-9e9b-4664-abc9-36b8166d921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0753599-00E8-4EE5-A4D7-5B678FDB9315}"/>
</file>

<file path=customXml/itemProps2.xml><?xml version="1.0" encoding="utf-8"?>
<ds:datastoreItem xmlns:ds="http://schemas.openxmlformats.org/officeDocument/2006/customXml" ds:itemID="{05FAABBB-D699-45B6-BBAE-30EDEC0BB680}"/>
</file>

<file path=customXml/itemProps3.xml><?xml version="1.0" encoding="utf-8"?>
<ds:datastoreItem xmlns:ds="http://schemas.openxmlformats.org/officeDocument/2006/customXml" ds:itemID="{ACA7B12B-94A6-4918-8969-A9DB1D80A80A}"/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465</Words>
  <Application>Microsoft Macintosh PowerPoint</Application>
  <PresentationFormat>Widescreen</PresentationFormat>
  <Paragraphs>34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 Light</vt:lpstr>
      <vt:lpstr>Office Theme</vt:lpstr>
      <vt:lpstr>Introduction to Materials Property Prediction</vt:lpstr>
      <vt:lpstr>Moving Beyond Regression to Generative</vt:lpstr>
      <vt:lpstr>Generating new materials with Mattergen</vt:lpstr>
      <vt:lpstr>Mattergen Tutorial Notebook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Jacobs</dc:creator>
  <cp:lastModifiedBy>Ryan Jacobs</cp:lastModifiedBy>
  <cp:revision>5</cp:revision>
  <dcterms:created xsi:type="dcterms:W3CDTF">2025-10-08T16:25:35Z</dcterms:created>
  <dcterms:modified xsi:type="dcterms:W3CDTF">2025-10-08T18:05:36Z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0x010100FF21A8A7101E1845BD0EEDCD8EA4467A</vt:lpwstr>
  </property>
  <property fmtid="{D5CDD505-2E9C-101B-9397-08002B2CF9AE}" pid="3" name="MediaServiceImageTags">
    <vt:lpwstr/>
  </property>
</Properties>
</file>